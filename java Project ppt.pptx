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7" r:id="rId7"/>
    <p:sldMasterId id="2147483658" r:id="rId8"/>
    <p:sldMasterId id="2147483659" r:id="rId9"/>
    <p:sldMasterId id="2147483660" r:id="rId10"/>
    <p:sldMasterId id="2147483661" r:id="rId11"/>
    <p:sldMasterId id="2147483662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96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DB3499-582C-4E93-BEFB-B33487C89D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96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9A4DD7-49BD-474B-8720-1E6AA5884F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96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487ADBF-C9DD-4647-8B21-D0C5126DAC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96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A3E5FAD-31CC-494C-B5BD-965550994E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0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80">
            <a:solidFill>
              <a:schemeClr val="accent1"/>
            </a:solidFill>
            <a:round/>
          </a:ln>
        </p:spPr>
      </p:cxnSp>
      <p:sp>
        <p:nvSpPr>
          <p:cNvPr id="1" name="Rectangle 9"/>
          <p:cNvSpPr/>
          <p:nvPr/>
        </p:nvSpPr>
        <p:spPr>
          <a:xfrm>
            <a:off x="0" y="0"/>
            <a:ext cx="12191760" cy="45716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Oval 5"/>
          <p:cNvSpPr/>
          <p:nvPr/>
        </p:nvSpPr>
        <p:spPr>
          <a:xfrm>
            <a:off x="0" y="0"/>
            <a:ext cx="12191760" cy="4571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4571640"/>
              <a:gd name="textAreaBottom" fmla="*/ 4572000 h 4571640"/>
            </a:gdLst>
            <a:ahLst/>
            <a:cxnLst/>
            <a:rect l="textAreaLeft" t="textAreaTop" r="textAreaRight" b="textAreaBottom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4960080"/>
            <a:ext cx="7772040" cy="14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r" defTabSz="914400">
              <a:lnSpc>
                <a:spcPct val="80000"/>
              </a:lnSpc>
              <a:buNone/>
            </a:pPr>
            <a:r>
              <a:rPr b="0" lang="en-US" sz="5000" spc="201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dt" idx="1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2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ADC826BA-BBD7-45DA-82F9-F3C4B5646811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7" name="Straight Connector 7"/>
          <p:cNvCxnSpPr/>
          <p:nvPr/>
        </p:nvCxnSpPr>
        <p:spPr>
          <a:xfrm flipV="1">
            <a:off x="8386560" y="5263920"/>
            <a:ext cx="360" cy="914760"/>
          </a:xfrm>
          <a:prstGeom prst="straightConnector1">
            <a:avLst/>
          </a:prstGeom>
          <a:ln w="19080">
            <a:solidFill>
              <a:schemeClr val="accent1">
                <a:lumMod val="75000"/>
              </a:schemeClr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80">
            <a:solidFill>
              <a:schemeClr val="accent1"/>
            </a:solidFill>
            <a:round/>
          </a:ln>
        </p:spPr>
      </p:cxn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024200" y="2286000"/>
            <a:ext cx="971964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4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5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6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83EF7FA3-14B2-4345-A7C2-C2ED649CAB68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80">
            <a:solidFill>
              <a:schemeClr val="accent1"/>
            </a:solidFill>
            <a:round/>
          </a:ln>
        </p:spPr>
      </p:cxn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724960" y="762120"/>
            <a:ext cx="2628720" cy="54097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91440" bIns="91440" anchor="ctr" vert="eaVert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990720" y="762120"/>
            <a:ext cx="7581600" cy="54097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7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8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9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32F2DB9A-8771-47A2-AFE3-E24B31317922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24" name="Straight Connector 6"/>
          <p:cNvCxnSpPr/>
          <p:nvPr/>
        </p:nvCxnSpPr>
        <p:spPr>
          <a:xfrm>
            <a:off x="9601200" y="516240"/>
            <a:ext cx="914760" cy="360"/>
          </a:xfrm>
          <a:prstGeom prst="straightConnector1">
            <a:avLst/>
          </a:prstGeom>
          <a:ln w="19080">
            <a:solidFill>
              <a:schemeClr val="accent1"/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80">
            <a:solidFill>
              <a:schemeClr val="accent1"/>
            </a:solidFill>
            <a:round/>
          </a:ln>
        </p:spPr>
      </p:cxn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1024200" y="2286000"/>
            <a:ext cx="971964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0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1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2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BAFCD58B-A621-41C8-95FB-66872AF42DF3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80">
            <a:solidFill>
              <a:schemeClr val="accent1"/>
            </a:solidFill>
            <a:round/>
          </a:ln>
        </p:spPr>
      </p:cxnSp>
      <p:sp>
        <p:nvSpPr>
          <p:cNvPr id="36" name="Rectangle 8"/>
          <p:cNvSpPr/>
          <p:nvPr/>
        </p:nvSpPr>
        <p:spPr>
          <a:xfrm>
            <a:off x="0" y="0"/>
            <a:ext cx="12191760" cy="457164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Oval 5"/>
          <p:cNvSpPr/>
          <p:nvPr/>
        </p:nvSpPr>
        <p:spPr>
          <a:xfrm>
            <a:off x="0" y="0"/>
            <a:ext cx="12191760" cy="4571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4571640"/>
              <a:gd name="textAreaBottom" fmla="*/ 4572000 h 4571640"/>
            </a:gdLst>
            <a:ahLst/>
            <a:cxnLst/>
            <a:rect l="textAreaLeft" t="textAreaTop" r="textAreaRight" b="textAreaBottom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4960080"/>
            <a:ext cx="7772040" cy="14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r" defTabSz="914400">
              <a:lnSpc>
                <a:spcPct val="80000"/>
              </a:lnSpc>
              <a:buNone/>
            </a:pPr>
            <a:r>
              <a:rPr b="0" lang="en-US" sz="5000" spc="201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610480" y="4960080"/>
            <a:ext cx="3200040" cy="14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432000" indent="-324000" defTabSz="914400">
              <a:lnSpc>
                <a:spcPct val="100000"/>
              </a:lnSpc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13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14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15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C061D808-90CE-4C99-B5F1-AF10E0505120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43" name="Straight Connector 7"/>
          <p:cNvCxnSpPr/>
          <p:nvPr/>
        </p:nvCxnSpPr>
        <p:spPr>
          <a:xfrm flipV="1">
            <a:off x="8386560" y="5263920"/>
            <a:ext cx="360" cy="914760"/>
          </a:xfrm>
          <a:prstGeom prst="straightConnector1">
            <a:avLst/>
          </a:prstGeom>
          <a:ln w="19080">
            <a:solidFill>
              <a:schemeClr val="accent1">
                <a:lumMod val="75000"/>
              </a:schemeClr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80">
            <a:solidFill>
              <a:schemeClr val="accent1"/>
            </a:solidFill>
            <a:round/>
          </a:ln>
        </p:spPr>
      </p:cxn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1024200" y="2286000"/>
            <a:ext cx="475452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5989320" y="2286000"/>
            <a:ext cx="475452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16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17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sldNum" idx="18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3139038A-8A96-4EBA-9F49-4CD8050D41E3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80">
            <a:solidFill>
              <a:schemeClr val="accent1"/>
            </a:solidFill>
            <a:round/>
          </a:ln>
        </p:spPr>
      </p:cxn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1024200" y="2179800"/>
            <a:ext cx="4754520" cy="822600"/>
          </a:xfrm>
          <a:prstGeom prst="rect">
            <a:avLst/>
          </a:prstGeom>
          <a:noFill/>
          <a:ln w="0">
            <a:noFill/>
          </a:ln>
        </p:spPr>
        <p:txBody>
          <a:bodyPr lIns="137160" rIns="137160" tIns="45720" bIns="45720" anchor="ctr">
            <a:normAutofit/>
          </a:bodyPr>
          <a:p>
            <a:pPr marL="432000" indent="-324000" defTabSz="914400">
              <a:lnSpc>
                <a:spcPct val="9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300" strike="noStrike" u="none">
                <a:solidFill>
                  <a:schemeClr val="accent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23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1024200" y="2967840"/>
            <a:ext cx="4754520" cy="33411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5990760" y="2179800"/>
            <a:ext cx="4754520" cy="822600"/>
          </a:xfrm>
          <a:prstGeom prst="rect">
            <a:avLst/>
          </a:prstGeom>
          <a:noFill/>
          <a:ln w="0">
            <a:noFill/>
          </a:ln>
        </p:spPr>
        <p:txBody>
          <a:bodyPr lIns="137160" rIns="13716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accent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23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5990760" y="2967840"/>
            <a:ext cx="4754520" cy="33411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dt" idx="19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7"/>
          <p:cNvSpPr>
            <a:spLocks noGrp="1"/>
          </p:cNvSpPr>
          <p:nvPr>
            <p:ph type="ftr" idx="20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8"/>
          <p:cNvSpPr>
            <a:spLocks noGrp="1"/>
          </p:cNvSpPr>
          <p:nvPr>
            <p:ph type="sldNum" idx="21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83C3313D-9C0D-4D0F-BB0B-70DDFF887517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80">
            <a:solidFill>
              <a:schemeClr val="accent1"/>
            </a:solidFill>
            <a:round/>
          </a:ln>
        </p:spPr>
      </p:cxn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64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dt" idx="22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ftr" idx="23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sldNum" idx="24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B0C671FA-EA0A-4EF3-AC03-E02B47B5F64A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80">
            <a:solidFill>
              <a:schemeClr val="accent1"/>
            </a:solidFill>
            <a:round/>
          </a:ln>
        </p:spPr>
      </p:cxnSp>
      <p:sp>
        <p:nvSpPr>
          <p:cNvPr id="66" name="PlaceHolder 1"/>
          <p:cNvSpPr>
            <a:spLocks noGrp="1"/>
          </p:cNvSpPr>
          <p:nvPr>
            <p:ph type="dt" idx="25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ftr" idx="26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27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70E392B4-8D6E-49A0-950C-20CDF1EEAF93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80">
            <a:solidFill>
              <a:schemeClr val="accent1"/>
            </a:solidFill>
            <a:round/>
          </a:ln>
        </p:spPr>
      </p:cxn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024200" y="471600"/>
            <a:ext cx="4388760" cy="173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4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5715000" y="822960"/>
            <a:ext cx="5677920" cy="51843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1024200" y="2257560"/>
            <a:ext cx="4388760" cy="376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8000"/>
              </a:lnSpc>
              <a:spcBef>
                <a:spcPts val="601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28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ftr" idx="29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30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E7EC5645-F9AC-4B94-A66E-8C09F83456D7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Straight Connector 6"/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80">
            <a:solidFill>
              <a:schemeClr val="accent1"/>
            </a:solidFill>
            <a:round/>
          </a:ln>
        </p:spPr>
      </p:cxn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4960080"/>
            <a:ext cx="7772040" cy="14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r" defTabSz="914400">
              <a:lnSpc>
                <a:spcPct val="80000"/>
              </a:lnSpc>
              <a:buNone/>
            </a:pPr>
            <a:r>
              <a:rPr b="0" lang="en-US" sz="5000" spc="201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12188520" cy="45716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  <p:txBody>
          <a:bodyPr lIns="457200" rIns="45720" tIns="365760" bIns="45720" anchor="t">
            <a:noAutofit/>
          </a:bodyPr>
          <a:p>
            <a:pPr marL="432000" indent="-324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icon to add picture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8610480" y="4960080"/>
            <a:ext cx="3200040" cy="146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100000"/>
              </a:lnSpc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dt" idx="31"/>
          </p:nvPr>
        </p:nvSpPr>
        <p:spPr>
          <a:xfrm>
            <a:off x="1024200" y="6470640"/>
            <a:ext cx="21538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ftr" idx="32"/>
          </p:nvPr>
        </p:nvSpPr>
        <p:spPr>
          <a:xfrm>
            <a:off x="4843080" y="6470640"/>
            <a:ext cx="590112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sldNum" idx="33"/>
          </p:nvPr>
        </p:nvSpPr>
        <p:spPr>
          <a:xfrm>
            <a:off x="10837440" y="6470640"/>
            <a:ext cx="97344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fld id="{71B50F75-E31E-406F-BEE0-FB46328FE6A8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83" name="Straight Connector 7"/>
          <p:cNvCxnSpPr/>
          <p:nvPr/>
        </p:nvCxnSpPr>
        <p:spPr>
          <a:xfrm flipV="1">
            <a:off x="8386560" y="5263920"/>
            <a:ext cx="360" cy="914760"/>
          </a:xfrm>
          <a:prstGeom prst="straightConnector1">
            <a:avLst/>
          </a:prstGeom>
          <a:ln w="19080">
            <a:solidFill>
              <a:schemeClr val="accent1"/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0080" y="0"/>
            <a:ext cx="4069440" cy="685764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309960" y="640080"/>
            <a:ext cx="3429360" cy="561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IN" sz="5000" spc="99" strike="noStrike" u="none" cap="all">
                <a:solidFill>
                  <a:schemeClr val="dk1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699800" y="2106360"/>
            <a:ext cx="7171920" cy="37447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Project Title: Digital Note Organizer with File Storage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Course: java Programming Mini Project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Student Name &amp; Roll No: Santhanalakshmi, 25bcs145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Department: Computer Science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Mentor / Guide: Mr. Aravind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87" name="Picture 5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4699800" y="233280"/>
            <a:ext cx="6743520" cy="1685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l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89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IN" sz="5000" spc="99" strike="noStrike" u="none" cap="all">
                <a:solidFill>
                  <a:schemeClr val="dk1"/>
                </a:solidFill>
                <a:effectLst/>
                <a:uFillTx/>
                <a:latin typeface="Tw Cen MT Condensed"/>
              </a:rPr>
              <a:t>Introduction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91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92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3060000" y="2025720"/>
            <a:ext cx="7922880" cy="3554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A Digital Note Organizer with File Storage is an application used to create, store, and manage notes digitally. It helps users organize information efficiently and access files easily through a simple and user-friendly interface.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The application is developed using Java Swing, offering a user-friendly interface for smooth interaction. This project demonstrates how technology can simplify everyday tasks like note-taking and file management.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94" name="Picture 6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l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97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IN" sz="5000" spc="99" strike="noStrike" u="none" cap="all">
                <a:solidFill>
                  <a:schemeClr val="dk1"/>
                </a:solidFill>
                <a:effectLst/>
                <a:uFillTx/>
                <a:latin typeface="Tw Cen MT Condensed"/>
              </a:rPr>
              <a:t>Objective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99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00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880" cy="3554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The objective of this project is to develop a user-friendly application that allows users to create, organize, and store notes along with files digitally, making information management easy, secure, and efficient.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It also ensures quick access, better data management, and a more convenient way to handle daily notes and documents.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102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l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05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IN" sz="5000" spc="99" strike="noStrike" u="none" cap="all">
                <a:solidFill>
                  <a:schemeClr val="dk1"/>
                </a:solidFill>
                <a:effectLst/>
                <a:uFillTx/>
                <a:latin typeface="Tw Cen MT Condensed"/>
              </a:rPr>
              <a:t>Problem Statement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07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08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880" cy="3554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Managing notes and important files manually or across scattered digital tools is time-consuming, disorganized, and prone to loss. There is a need for a simple, secure, and centralized system to efficiently create, store, and access notes and files.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Existing systems lack a centralized, secure, and easy-to-use platform for notes and file management.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110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l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1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IN" sz="5000" spc="99" strike="noStrike" u="none" cap="all">
                <a:solidFill>
                  <a:schemeClr val="dk1"/>
                </a:solidFill>
                <a:effectLst/>
                <a:uFillTx/>
                <a:latin typeface="Tw Cen MT Condensed"/>
              </a:rPr>
              <a:t>System Requirements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15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16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880" cy="3554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15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IN" sz="15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Hardware Requirements: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. </a:t>
            </a: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Hard Disk (minimum 500 GB)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IN" sz="2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.</a:t>
            </a:r>
            <a:r>
              <a:rPr b="0" lang="en-IN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Keyboard and Mouse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IN" sz="15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Software Requirements: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IN" sz="15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• IDE: NetBeans / Eclipse 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IN" sz="15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• Java Development Kit (JDK) 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118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l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21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IN" sz="5000" spc="99" strike="noStrike" u="none" cap="all">
                <a:solidFill>
                  <a:schemeClr val="dk1"/>
                </a:solidFill>
                <a:effectLst/>
                <a:uFillTx/>
                <a:latin typeface="Tw Cen MT Condensed"/>
              </a:rPr>
              <a:t>System Design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23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24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880" cy="3554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User Interface Layer: Provides a simple and user-friendly GUI using Java Swing for creating, editing, and viewing notes.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Application Layer: Handles note management, file storage, and data operations.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Data Storage Layer: Saves notes and files securely in a structured format on the local system.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Flow: User inputs → Application processes → Data stored/retrieved → Display output on GUI.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126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l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29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IN" sz="5000" spc="99" strike="noStrike" u="none" cap="all">
                <a:solidFill>
                  <a:schemeClr val="dk1"/>
                </a:solidFill>
                <a:effectLst/>
                <a:uFillTx/>
                <a:latin typeface="Tw Cen MT Condensed"/>
              </a:rPr>
              <a:t>Module Description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31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32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880" cy="3554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.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Input Module: Allows users to create, edit, and enter notes or attach files.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.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File Handling Module: Saves, retrieves, and manages notes and files securely.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.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Processing Module: Organizes, searches, and updates notes and files as per user actions.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.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Output Module: Displays notes and files in a user-friendly interface for easy access.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134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l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37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IN" sz="5000" spc="99" strike="noStrike" u="none" cap="all">
                <a:solidFill>
                  <a:schemeClr val="dk1"/>
                </a:solidFill>
                <a:effectLst/>
                <a:uFillTx/>
                <a:latin typeface="Tw Cen MT Condensed"/>
              </a:rPr>
              <a:t>Algorithm / Flowchart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39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40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880" cy="3554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1. Start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2. Initialize variables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3. Input data from the user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4. Process data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5. Display output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6. Stop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(Insert flowchart image here)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142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" descr=""/>
          <p:cNvPicPr/>
          <p:nvPr/>
        </p:nvPicPr>
        <p:blipFill>
          <a:blip r:embed="rId2"/>
          <a:stretch/>
        </p:blipFill>
        <p:spPr>
          <a:xfrm>
            <a:off x="7469280" y="1980000"/>
            <a:ext cx="2790720" cy="4063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l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4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IN" sz="5000" spc="99" strike="noStrike" u="none" cap="all">
                <a:solidFill>
                  <a:schemeClr val="dk1"/>
                </a:solidFill>
                <a:effectLst/>
                <a:uFillTx/>
                <a:latin typeface="Tw Cen MT Condensed"/>
              </a:rPr>
              <a:t>Implementation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48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49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3469320" y="2385720"/>
            <a:ext cx="7922880" cy="3554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lnSpcReduction="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Techniques Used: 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.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Loops and conditional statements for menu and navigation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.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Functions for modular design (add, edit, delete, search notes)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.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Arrays to store notes temporarily in memory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.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File handling (fopen, fclose, fprintf, fscanf) to save and retrieve notes and files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151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l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54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IN" sz="5000" spc="99" strike="noStrike" u="none" cap="all">
                <a:solidFill>
                  <a:schemeClr val="dk1"/>
                </a:solidFill>
                <a:effectLst/>
                <a:uFillTx/>
                <a:latin typeface="Tw Cen MT Condensed"/>
              </a:rPr>
              <a:t>Output Screens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56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57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880" cy="35542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159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1" name="" descr=""/>
          <p:cNvPicPr/>
          <p:nvPr/>
        </p:nvPicPr>
        <p:blipFill>
          <a:blip r:embed="rId2"/>
          <a:stretch/>
        </p:blipFill>
        <p:spPr>
          <a:xfrm rot="21597000">
            <a:off x="2880720" y="2161440"/>
            <a:ext cx="4320000" cy="2304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2" name="" descr=""/>
          <p:cNvPicPr/>
          <p:nvPr/>
        </p:nvPicPr>
        <p:blipFill>
          <a:blip r:embed="rId3"/>
          <a:stretch/>
        </p:blipFill>
        <p:spPr>
          <a:xfrm>
            <a:off x="7380000" y="2049120"/>
            <a:ext cx="4595760" cy="2450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l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64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IN" sz="5000" spc="99" strike="noStrike" u="none" cap="all">
                <a:solidFill>
                  <a:schemeClr val="dk1"/>
                </a:solidFill>
                <a:effectLst/>
                <a:uFillTx/>
                <a:latin typeface="Tw Cen MT Condensed"/>
              </a:rPr>
              <a:t>Results &amp; Discussion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66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67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3240000" y="2160000"/>
            <a:ext cx="8460000" cy="3960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Results: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The application allows users to add, save, load, and delete notes successfully.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Notes are stored in a file and displayed properly in the table.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Discussion: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The system is simple and easy to use with Java Swing and file handling.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It can be improved by storing full content and adding more features.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169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l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72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IN" sz="5000" spc="99" strike="noStrike" u="none" cap="all">
                <a:solidFill>
                  <a:schemeClr val="dk1"/>
                </a:solidFill>
                <a:effectLst/>
                <a:uFillTx/>
                <a:latin typeface="Tw Cen MT Condensed"/>
              </a:rPr>
              <a:t>Conclusion &amp; Future Enhancement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74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75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3148920" y="2129400"/>
            <a:ext cx="8640000" cy="4140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15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Conclusion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The Digital Note Organizer successfully manages notes and stores them using file handling.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This project helps in understanding Java Swing, file operations, and basic system design.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Future Enhancement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Add more features like saving full note content and search option.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Improve the system using a database and better user interface.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 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177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l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80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800" cy="588060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IN" sz="5000" spc="99" strike="noStrike" u="none" cap="all">
                <a:solidFill>
                  <a:schemeClr val="dk1"/>
                </a:solidFill>
                <a:effectLst/>
                <a:uFillTx/>
                <a:latin typeface="Tw Cen MT Condensed"/>
              </a:rPr>
              <a:t>References / Acknowledgement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sp>
        <p:nvSpPr>
          <p:cNvPr id="182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680" cy="588060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83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360" cy="91476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2772720" y="1980000"/>
            <a:ext cx="8820000" cy="4140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lnSpcReduction="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References: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.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Java: The Complete Reference – Herbert Schildt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.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Java Programming Books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.W3Schools-java Basics and Emamples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Acknowledgement: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I thank my teacher and college for giving me this opportunity to do this project.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I also thank my friends and online resources for their support.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 </a:t>
            </a:r>
            <a:endParaRPr b="0" lang="en-US" sz="1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pic>
        <p:nvPicPr>
          <p:cNvPr id="185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760" cy="4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Title 1"/>
          <p:cNvSpPr/>
          <p:nvPr/>
        </p:nvSpPr>
        <p:spPr>
          <a:xfrm>
            <a:off x="566280" y="590040"/>
            <a:ext cx="1877760" cy="56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l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88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600" y="321840"/>
            <a:ext cx="11550960" cy="621432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103294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IN" sz="5000" spc="99" strike="noStrike" u="none" cap="all">
                <a:solidFill>
                  <a:schemeClr val="dk1"/>
                </a:solidFill>
                <a:effectLst/>
                <a:uFillTx/>
                <a:latin typeface="Tw Cen MT Condensed"/>
              </a:rPr>
              <a:t>Thank You</a:t>
            </a:r>
            <a:endParaRPr b="0" lang="en-US" sz="50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  <p:cxnSp>
        <p:nvCxnSpPr>
          <p:cNvPr id="190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761760" y="826200"/>
            <a:ext cx="360" cy="914760"/>
          </a:xfrm>
          <a:prstGeom prst="straightConnector1">
            <a:avLst/>
          </a:prstGeom>
          <a:ln w="19080">
            <a:solidFill>
              <a:schemeClr val="accent1">
                <a:lumMod val="20000"/>
                <a:lumOff val="80000"/>
              </a:schemeClr>
            </a:solidFill>
            <a:round/>
          </a:ln>
        </p:spPr>
      </p:cxn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10329480" cy="38624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en-US" sz="22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 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Tw Cen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1283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2026-04-13T14:49:33Z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r8>14</vt:r8>
  </property>
</Properties>
</file>